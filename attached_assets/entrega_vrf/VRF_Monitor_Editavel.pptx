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Duração sugerida: 6 segundos. Textos e formas são editáveis. Imagens são substituíveis. Adaptação em slides do vídeo original, não preserva suas animações React. Para gerar vídeo no PowerPoint desktop: Arquivo &gt; Exportar &gt; Criar um Vídeo. Use os intervalos gravados.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Duração sugerida: 8 segundos. Textos e formas são editáveis. Imagens são substituíveis. Adaptação em slides do vídeo original, não preserva suas animações React. Para gerar vídeo no PowerPoint desktop: Arquivo &gt; Exportar &gt; Criar um Vídeo. Use os intervalos gravados.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Duração sugerida: 8 segundos. Textos e formas são editáveis. Imagens são substituíveis. Adaptação em slides do vídeo original, não preserva suas animações React. Para gerar vídeo no PowerPoint desktop: Arquivo &gt; Exportar &gt; Criar um Vídeo. Use os intervalos gravados.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Duração sugerida: 8 segundos. Textos e formas são editáveis. Imagens são substituíveis. Adaptação em slides do vídeo original, não preserva suas animações React. Para gerar vídeo no PowerPoint desktop: Arquivo &gt; Exportar &gt; Criar um Vídeo. Use os intervalos gravados.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Duração sugerida: 8 segundos. Textos e formas são editáveis. Imagens são substituíveis. Adaptação em slides do vídeo original, não preserva suas animações React. Para gerar vídeo no PowerPoint desktop: Arquivo &gt; Exportar &gt; Criar um Vídeo. Use os intervalos gravados.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Duração sugerida: 4 segundos. Textos e formas são editáveis. Imagens são substituíveis. Adaptação em slides do vídeo original, não preserva suas animações React. Para gerar vídeo no PowerPoint desktop: Arquivo &gt; Exportar &gt; Criar um Vídeo. Use os intervalos gravados.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7040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FF6200"/>
                </a:solidFill>
                <a:latin typeface="Aptos"/>
              </a:defRPr>
            </a:pPr>
            <a:r>
              <a:t>HARD SERVICE  /  MONITOR VRF LG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463040"/>
            <a:ext cx="7040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4000" b="1">
                <a:solidFill>
                  <a:srgbClr val="FFFFFF"/>
                </a:solidFill>
                <a:latin typeface="Aptos"/>
              </a:defRPr>
            </a:pPr>
            <a:r>
              <a:t>Monitoramento</a:t>
            </a:r>
          </a:p>
          <a:p>
            <a:pPr>
              <a:spcAft>
                <a:spcPts val="1400"/>
              </a:spcAft>
              <a:defRPr sz="4000" b="1">
                <a:solidFill>
                  <a:srgbClr val="FFFFFF"/>
                </a:solidFill>
                <a:latin typeface="Aptos"/>
              </a:defRPr>
            </a:pPr>
            <a:r>
              <a:t>VRF LG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474720"/>
            <a:ext cx="7040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B7BBC4"/>
                </a:solidFill>
                <a:latin typeface="Aptos"/>
              </a:defRPr>
            </a:pPr>
            <a:r>
              <a:t>Programa desenvolvido pelo time Hard Service para monitorar a saúde dos equipamentos.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7160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0">
                <a:solidFill>
                  <a:srgbClr val="B7BBC4"/>
                </a:solidFill>
                <a:latin typeface="Aptos"/>
              </a:defRPr>
            </a:pPr>
            <a:r>
              <a:t>01 / 06</a:t>
            </a:r>
          </a:p>
        </p:txBody>
      </p:sp>
      <p:pic>
        <p:nvPicPr>
          <p:cNvPr id="6" name="Picture 5" descr="xp-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5931317"/>
            <a:ext cx="5486400" cy="331640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10058400"/>
            <a:ext cx="67665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700" b="0">
                <a:solidFill>
                  <a:srgbClr val="FFFFFF"/>
                </a:solidFill>
                <a:latin typeface="Aptos"/>
              </a:defRPr>
            </a:pPr>
            <a:r>
              <a:t>Leituras periódicas.</a:t>
            </a:r>
          </a:p>
          <a:p>
            <a:pPr>
              <a:spcAft>
                <a:spcPts val="1400"/>
              </a:spcAft>
              <a:defRPr sz="2700" b="0">
                <a:solidFill>
                  <a:srgbClr val="FFFFFF"/>
                </a:solidFill>
                <a:latin typeface="Aptos"/>
              </a:defRPr>
            </a:pPr>
            <a:r>
              <a:t>Acompanhamento da saúde.</a:t>
            </a:r>
          </a:p>
          <a:p>
            <a:pPr>
              <a:spcAft>
                <a:spcPts val="1400"/>
              </a:spcAft>
              <a:defRPr sz="2700" b="0">
                <a:solidFill>
                  <a:srgbClr val="FFFFFF"/>
                </a:solidFill>
                <a:latin typeface="Aptos"/>
              </a:defRPr>
            </a:pPr>
            <a:r>
              <a:t>Prevenção de indisponibilidade.</a:t>
            </a:r>
          </a:p>
        </p:txBody>
      </p:sp>
    </p:spTree>
  </p:cSld>
  <p:clrMapOvr>
    <a:masterClrMapping/>
  </p:clrMapOvr>
  <p:transition advClick="1" advTm="6000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7040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FF6200"/>
                </a:solidFill>
                <a:latin typeface="Aptos"/>
              </a:defRPr>
            </a:pPr>
            <a:r>
              <a:t>HARD SERVICE  /  MONITOR VRF LG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463040"/>
            <a:ext cx="7040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4000" b="1">
                <a:solidFill>
                  <a:srgbClr val="FFFFFF"/>
                </a:solidFill>
                <a:latin typeface="Aptos"/>
              </a:defRPr>
            </a:pPr>
            <a:r>
              <a:t>Manutenção</a:t>
            </a:r>
          </a:p>
          <a:p>
            <a:pPr>
              <a:spcAft>
                <a:spcPts val="1400"/>
              </a:spcAft>
              <a:defRPr sz="4000" b="1">
                <a:solidFill>
                  <a:srgbClr val="FFFFFF"/>
                </a:solidFill>
                <a:latin typeface="Aptos"/>
              </a:defRPr>
            </a:pPr>
            <a:r>
              <a:t>preditiva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474720"/>
            <a:ext cx="7040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B7BBC4"/>
                </a:solidFill>
                <a:latin typeface="Aptos"/>
              </a:defRPr>
            </a:pPr>
            <a:r>
              <a:t>Análise dos parâmetros extraídos dos equipamentos VRF com o software LGMV.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7160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0">
                <a:solidFill>
                  <a:srgbClr val="B7BBC4"/>
                </a:solidFill>
                <a:latin typeface="Aptos"/>
              </a:defRPr>
            </a:pPr>
            <a:r>
              <a:t>02 / 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5760720"/>
            <a:ext cx="7040880" cy="2011680"/>
          </a:xfrm>
          <a:prstGeom prst="roundRect">
            <a:avLst/>
          </a:prstGeom>
          <a:solidFill>
            <a:srgbClr val="191B20"/>
          </a:solidFill>
          <a:ln>
            <a:solidFill>
              <a:srgbClr val="333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943600"/>
            <a:ext cx="649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 b="1">
                <a:solidFill>
                  <a:srgbClr val="FF6200"/>
                </a:solidFill>
                <a:latin typeface="Aptos"/>
              </a:defRPr>
            </a:pPr>
            <a:r>
              <a:t>01  LEITURA LGMV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537959"/>
            <a:ext cx="6492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0">
                <a:solidFill>
                  <a:srgbClr val="FFFFFF"/>
                </a:solidFill>
                <a:latin typeface="Aptos"/>
              </a:defRPr>
            </a:pPr>
            <a:r>
              <a:t>Parâmetros operacionais registrados periodicamente.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8229600"/>
            <a:ext cx="7040880" cy="2011680"/>
          </a:xfrm>
          <a:prstGeom prst="roundRect">
            <a:avLst/>
          </a:prstGeom>
          <a:solidFill>
            <a:srgbClr val="191B20"/>
          </a:solidFill>
          <a:ln>
            <a:solidFill>
              <a:srgbClr val="333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8412480"/>
            <a:ext cx="649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 b="1">
                <a:solidFill>
                  <a:srgbClr val="FF6200"/>
                </a:solidFill>
                <a:latin typeface="Aptos"/>
              </a:defRPr>
            </a:pPr>
            <a:r>
              <a:t>02  COMPARAÇÃO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9006840"/>
            <a:ext cx="6492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0">
                <a:solidFill>
                  <a:srgbClr val="FFFFFF"/>
                </a:solidFill>
                <a:latin typeface="Aptos"/>
              </a:defRPr>
            </a:pPr>
            <a:r>
              <a:t>Relatório de startup e baseline da LG.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0698480"/>
            <a:ext cx="7040880" cy="2011680"/>
          </a:xfrm>
          <a:prstGeom prst="roundRect">
            <a:avLst/>
          </a:prstGeom>
          <a:solidFill>
            <a:srgbClr val="191B20"/>
          </a:solidFill>
          <a:ln>
            <a:solidFill>
              <a:srgbClr val="333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0881359"/>
            <a:ext cx="649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 b="1">
                <a:solidFill>
                  <a:srgbClr val="FF6200"/>
                </a:solidFill>
                <a:latin typeface="Aptos"/>
              </a:defRPr>
            </a:pPr>
            <a:r>
              <a:t>03  ACOMPANHAMENTO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11475719"/>
            <a:ext cx="6492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0">
                <a:solidFill>
                  <a:srgbClr val="FFFFFF"/>
                </a:solidFill>
                <a:latin typeface="Aptos"/>
              </a:defRPr>
            </a:pPr>
            <a:r>
              <a:t>Identificação de desvios para apoiar a manutenção.</a:t>
            </a:r>
          </a:p>
        </p:txBody>
      </p:sp>
    </p:spTree>
  </p:cSld>
  <p:clrMapOvr>
    <a:masterClrMapping/>
  </p:clrMapOvr>
  <p:transition advClick="1" advTm="8000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7040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FF6200"/>
                </a:solidFill>
                <a:latin typeface="Aptos"/>
              </a:defRPr>
            </a:pPr>
            <a:r>
              <a:t>HARD SERVICE  /  MONITOR VRF LG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463040"/>
            <a:ext cx="7040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4000" b="1">
                <a:solidFill>
                  <a:srgbClr val="FFFFFF"/>
                </a:solidFill>
                <a:latin typeface="Aptos"/>
              </a:defRPr>
            </a:pPr>
            <a:r>
              <a:t>Parâmetros</a:t>
            </a:r>
          </a:p>
          <a:p>
            <a:pPr>
              <a:spcAft>
                <a:spcPts val="1400"/>
              </a:spcAft>
              <a:defRPr sz="4000" b="1">
                <a:solidFill>
                  <a:srgbClr val="FFFFFF"/>
                </a:solidFill>
                <a:latin typeface="Aptos"/>
              </a:defRPr>
            </a:pPr>
            <a:r>
              <a:t>e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474720"/>
            <a:ext cx="7040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B7BBC4"/>
                </a:solidFill>
                <a:latin typeface="Aptos"/>
              </a:defRPr>
            </a:pPr>
            <a:r>
              <a:t>Exemplo de análise registrada no programa. Leituras não estabilizadas em refrigeração.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7160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0">
                <a:solidFill>
                  <a:srgbClr val="B7BBC4"/>
                </a:solidFill>
                <a:latin typeface="Aptos"/>
              </a:defRPr>
            </a:pPr>
            <a:r>
              <a:t>03 / 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5669280"/>
            <a:ext cx="7040880" cy="1554480"/>
          </a:xfrm>
          <a:prstGeom prst="roundRect">
            <a:avLst/>
          </a:prstGeom>
          <a:solidFill>
            <a:srgbClr val="191B20"/>
          </a:solidFill>
          <a:ln>
            <a:solidFill>
              <a:srgbClr val="333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8064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0">
                <a:solidFill>
                  <a:srgbClr val="B7BBC4"/>
                </a:solidFill>
                <a:latin typeface="Aptos"/>
              </a:defRPr>
            </a:pPr>
            <a:r>
              <a:t>PRESSÃO DE DESCARGA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309360"/>
            <a:ext cx="6400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FF6200"/>
                </a:solidFill>
                <a:latin typeface="Aptos"/>
              </a:defRPr>
            </a:pPr>
            <a:r>
              <a:t>221,62 kPa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7498079"/>
            <a:ext cx="7040880" cy="1554480"/>
          </a:xfrm>
          <a:prstGeom prst="roundRect">
            <a:avLst/>
          </a:prstGeom>
          <a:solidFill>
            <a:srgbClr val="191B20"/>
          </a:solidFill>
          <a:ln>
            <a:solidFill>
              <a:srgbClr val="333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76352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0">
                <a:solidFill>
                  <a:srgbClr val="B7BBC4"/>
                </a:solidFill>
                <a:latin typeface="Aptos"/>
              </a:defRPr>
            </a:pPr>
            <a:r>
              <a:t>PRESSÃO DE SUCÇÃO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8138159"/>
            <a:ext cx="6400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FF6200"/>
                </a:solidFill>
                <a:latin typeface="Aptos"/>
              </a:defRPr>
            </a:pPr>
            <a:r>
              <a:t>213,35 kPa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9326880"/>
            <a:ext cx="7040880" cy="1554480"/>
          </a:xfrm>
          <a:prstGeom prst="roundRect">
            <a:avLst/>
          </a:prstGeom>
          <a:solidFill>
            <a:srgbClr val="191B20"/>
          </a:solidFill>
          <a:ln>
            <a:solidFill>
              <a:srgbClr val="333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94640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0">
                <a:solidFill>
                  <a:srgbClr val="B7BBC4"/>
                </a:solidFill>
                <a:latin typeface="Aptos"/>
              </a:defRPr>
            </a:pPr>
            <a:r>
              <a:t>EEV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9966959"/>
            <a:ext cx="6400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FF6200"/>
                </a:solidFill>
                <a:latin typeface="Aptos"/>
              </a:defRPr>
            </a:pPr>
            <a:r>
              <a:t>40 pulsos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11430000"/>
            <a:ext cx="6675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300" b="0">
                <a:solidFill>
                  <a:srgbClr val="FFFFFF"/>
                </a:solidFill>
                <a:latin typeface="Aptos"/>
              </a:defRPr>
            </a:pPr>
            <a:r>
              <a:t>INSIGHT</a:t>
            </a:r>
          </a:p>
          <a:p>
            <a:pPr>
              <a:spcAft>
                <a:spcPts val="1400"/>
              </a:spcAft>
              <a:defRPr sz="2300" b="0">
                <a:solidFill>
                  <a:srgbClr val="FFFFFF"/>
                </a:solidFill>
                <a:latin typeface="Aptos"/>
              </a:defRPr>
            </a:pPr>
            <a:r>
              <a:t>Pressões e EEV anômalas: repetir a coleta LGMV após estabilização.</a:t>
            </a:r>
          </a:p>
        </p:txBody>
      </p:sp>
    </p:spTree>
  </p:cSld>
  <p:clrMapOvr>
    <a:masterClrMapping/>
  </p:clrMapOvr>
  <p:transition advClick="1" advTm="8000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7040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FF6200"/>
                </a:solidFill>
                <a:latin typeface="Aptos"/>
              </a:defRPr>
            </a:pPr>
            <a:r>
              <a:t>HARD SERVICE  /  MONITOR VRF LG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463040"/>
            <a:ext cx="7040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4000" b="1">
                <a:solidFill>
                  <a:srgbClr val="FFFFFF"/>
                </a:solidFill>
                <a:latin typeface="Aptos"/>
              </a:defRPr>
            </a:pPr>
            <a:r>
              <a:t>Referência</a:t>
            </a:r>
          </a:p>
          <a:p>
            <a:pPr>
              <a:spcAft>
                <a:spcPts val="1400"/>
              </a:spcAft>
              <a:defRPr sz="4000" b="1">
                <a:solidFill>
                  <a:srgbClr val="FFFFFF"/>
                </a:solidFill>
                <a:latin typeface="Aptos"/>
              </a:defRPr>
            </a:pPr>
            <a:r>
              <a:t>técnica LG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474720"/>
            <a:ext cx="7040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B7BBC4"/>
                </a:solidFill>
                <a:latin typeface="Aptos"/>
              </a:defRPr>
            </a:pPr>
            <a:r>
              <a:t>Na ausência do relatório de startup, a tabela LG apoia a avaliação de sistemas com condensação a 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7160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0">
                <a:solidFill>
                  <a:srgbClr val="B7BBC4"/>
                </a:solidFill>
                <a:latin typeface="Aptos"/>
              </a:defRPr>
            </a:pPr>
            <a:r>
              <a:t>04 / 06</a:t>
            </a:r>
          </a:p>
        </p:txBody>
      </p:sp>
      <p:pic>
        <p:nvPicPr>
          <p:cNvPr id="6" name="Picture 5" descr="lg-reference-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6245703"/>
            <a:ext cx="7040880" cy="38763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11338560"/>
            <a:ext cx="6675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300" b="0">
                <a:solidFill>
                  <a:srgbClr val="B7BBC4"/>
                </a:solidFill>
                <a:latin typeface="Aptos"/>
              </a:defRPr>
            </a:pPr>
            <a:r>
              <a:t>Aplicação: Air-cooled.</a:t>
            </a:r>
          </a:p>
          <a:p>
            <a:pPr>
              <a:spcAft>
                <a:spcPts val="1400"/>
              </a:spcAft>
              <a:defRPr sz="2300" b="0">
                <a:solidFill>
                  <a:srgbClr val="B7BBC4"/>
                </a:solidFill>
                <a:latin typeface="Aptos"/>
              </a:defRPr>
            </a:pPr>
            <a:r>
              <a:t>Não substituir o baseline específico de sistemas com condensação a água.</a:t>
            </a:r>
          </a:p>
        </p:txBody>
      </p:sp>
    </p:spTree>
  </p:cSld>
  <p:clrMapOvr>
    <a:masterClrMapping/>
  </p:clrMapOvr>
  <p:transition advClick="1" advTm="8000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7040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FF6200"/>
                </a:solidFill>
                <a:latin typeface="Aptos"/>
              </a:defRPr>
            </a:pPr>
            <a:r>
              <a:t>HARD SERVICE  /  MONITOR VRF LG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463040"/>
            <a:ext cx="7040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4000" b="1">
                <a:solidFill>
                  <a:srgbClr val="FFFFFF"/>
                </a:solidFill>
                <a:latin typeface="Aptos"/>
              </a:defRPr>
            </a:pPr>
            <a:r>
              <a:t>Relatório</a:t>
            </a:r>
          </a:p>
          <a:p>
            <a:pPr>
              <a:spcAft>
                <a:spcPts val="1400"/>
              </a:spcAft>
              <a:defRPr sz="4000" b="1">
                <a:solidFill>
                  <a:srgbClr val="FFFFFF"/>
                </a:solidFill>
                <a:latin typeface="Aptos"/>
              </a:defRPr>
            </a:pPr>
            <a:r>
              <a:t>técnico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474720"/>
            <a:ext cx="7040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B7BBC4"/>
                </a:solidFill>
                <a:latin typeface="Aptos"/>
              </a:defRPr>
            </a:pPr>
            <a:r>
              <a:t>Diagnóstico, insights e plano de ação — com exportação para Word.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7160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0">
                <a:solidFill>
                  <a:srgbClr val="B7BBC4"/>
                </a:solidFill>
                <a:latin typeface="Aptos"/>
              </a:defRPr>
            </a:pPr>
            <a:r>
              <a:t>05 / 06</a:t>
            </a:r>
          </a:p>
        </p:txBody>
      </p:sp>
      <p:pic>
        <p:nvPicPr>
          <p:cNvPr id="6" name="Picture 5" descr="diagnostico-rea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477" y="5486400"/>
            <a:ext cx="6314644" cy="5577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11064240"/>
            <a:ext cx="6675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 b="1">
                <a:solidFill>
                  <a:srgbClr val="FF6200"/>
                </a:solidFill>
                <a:latin typeface="Aptos"/>
              </a:defRPr>
            </a:pPr>
            <a:r>
              <a:t>DIAGNÓSTICO</a:t>
            </a:r>
          </a:p>
          <a:p>
            <a:pPr>
              <a:spcAft>
                <a:spcPts val="1400"/>
              </a:spcAft>
              <a:defRPr sz="2100" b="1">
                <a:solidFill>
                  <a:srgbClr val="FF6200"/>
                </a:solidFill>
                <a:latin typeface="Aptos"/>
              </a:defRPr>
            </a:pPr>
            <a:r>
              <a:t>Leituras não estabilizadas.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2207240"/>
            <a:ext cx="6675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PLANO DE AÇÃO</a:t>
            </a:r>
          </a:p>
          <a:p>
            <a:pPr>
              <a:spcAft>
                <a:spcPts val="14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Repetir a coleta após estabilização.</a:t>
            </a:r>
          </a:p>
        </p:txBody>
      </p:sp>
    </p:spTree>
  </p:cSld>
  <p:clrMapOvr>
    <a:masterClrMapping/>
  </p:clrMapOvr>
  <p:transition advClick="1" advTm="8000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7040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FF6200"/>
                </a:solidFill>
                <a:latin typeface="Aptos"/>
              </a:defRPr>
            </a:pPr>
            <a:r>
              <a:t>HARD SERVICE  /  MONITOR VRF LG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463040"/>
            <a:ext cx="7040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4000" b="1">
                <a:solidFill>
                  <a:srgbClr val="FFFFFF"/>
                </a:solidFill>
                <a:latin typeface="Aptos"/>
              </a:defRPr>
            </a:pPr>
            <a:r>
              <a:t>Prevenção</a:t>
            </a:r>
          </a:p>
          <a:p>
            <a:pPr>
              <a:spcAft>
                <a:spcPts val="1400"/>
              </a:spcAft>
              <a:defRPr sz="4000" b="1">
                <a:solidFill>
                  <a:srgbClr val="FFFFFF"/>
                </a:solidFill>
                <a:latin typeface="Aptos"/>
              </a:defRPr>
            </a:pPr>
            <a:r>
              <a:t>ativa.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474720"/>
            <a:ext cx="7040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B7BBC4"/>
                </a:solidFill>
                <a:latin typeface="Aptos"/>
              </a:defRPr>
            </a:pPr>
            <a:r>
              <a:t>Um processo de Hard Service para acompanhar a saúde dos sistemas VRF LG.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7160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0">
                <a:solidFill>
                  <a:srgbClr val="B7BBC4"/>
                </a:solidFill>
                <a:latin typeface="Aptos"/>
              </a:defRPr>
            </a:pPr>
            <a:r>
              <a:t>06 / 06</a:t>
            </a:r>
          </a:p>
        </p:txBody>
      </p:sp>
      <p:pic>
        <p:nvPicPr>
          <p:cNvPr id="6" name="Picture 5" descr="xp-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6114197"/>
            <a:ext cx="5486400" cy="331640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10424160"/>
            <a:ext cx="6675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800" b="0">
                <a:solidFill>
                  <a:srgbClr val="FFFFFF"/>
                </a:solidFill>
                <a:latin typeface="Aptos"/>
              </a:defRPr>
            </a:pPr>
            <a:r>
              <a:t>Dados para orientar ações.</a:t>
            </a:r>
          </a:p>
          <a:p>
            <a:pPr>
              <a:spcAft>
                <a:spcPts val="1400"/>
              </a:spcAft>
              <a:defRPr sz="2800" b="0">
                <a:solidFill>
                  <a:srgbClr val="FFFFFF"/>
                </a:solidFill>
                <a:latin typeface="Aptos"/>
              </a:defRPr>
            </a:pPr>
            <a:r>
              <a:t>Cuidado contínuo com os equipamentos.</a:t>
            </a:r>
          </a:p>
        </p:txBody>
      </p:sp>
    </p:spTree>
  </p:cSld>
  <p:clrMapOvr>
    <a:masterClrMapping/>
  </p:clrMapOvr>
  <p:transition advClick="1" advTm="40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